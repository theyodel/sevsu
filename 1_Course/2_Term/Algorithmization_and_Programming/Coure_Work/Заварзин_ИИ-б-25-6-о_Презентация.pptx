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Arial Black" panose="020B0A04020102020204" pitchFamily="34" charset="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mmg2FTUTd/efgLzZB2qWK/E3L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10" y="17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2577365" y="1272837"/>
            <a:ext cx="3989268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2545319" y="3454316"/>
            <a:ext cx="4053361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1086455" y="1531791"/>
            <a:ext cx="3150870" cy="272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5314625" y="1300315"/>
            <a:ext cx="3256279" cy="285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604" y="445346"/>
            <a:ext cx="3352800" cy="10545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/>
          <p:nvPr/>
        </p:nvSpPr>
        <p:spPr>
          <a:xfrm>
            <a:off x="0" y="1620081"/>
            <a:ext cx="54102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Курсовой проект 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дисциплине «Алгоритмизация и программирование» </a:t>
            </a:r>
            <a:br>
              <a:rPr lang="ru-RU" sz="2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2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«Обработка табличной информации» </a:t>
            </a:r>
            <a:endParaRPr dirty="0"/>
          </a:p>
        </p:txBody>
      </p:sp>
      <p:sp>
        <p:nvSpPr>
          <p:cNvPr id="50" name="Google Shape;50;p1"/>
          <p:cNvSpPr txBox="1"/>
          <p:nvPr/>
        </p:nvSpPr>
        <p:spPr>
          <a:xfrm>
            <a:off x="361604" y="3255566"/>
            <a:ext cx="6060744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ru-RU" sz="1400" b="0" i="0" u="none" strike="noStrike" cap="none" dirty="0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ыполнил</a:t>
            </a:r>
            <a:r>
              <a:rPr lang="ru-RU" sz="1400" b="0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ru-RU" sz="14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4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ru-RU" sz="14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тудент </a:t>
            </a:r>
            <a:r>
              <a:rPr lang="ru-RU" sz="1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группы ИИ/б-25-6-о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1" u="sng" dirty="0" err="1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Заварзин</a:t>
            </a:r>
            <a:r>
              <a:rPr lang="ru-RU" sz="1400" b="1" i="1" u="sng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А. В.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</a:t>
            </a:r>
            <a:r>
              <a:rPr lang="ru-RU" sz="140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lang="ru-RU" sz="1400" dirty="0" smtClean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Старший преподаватель кафедры </a:t>
            </a:r>
            <a:r>
              <a:rPr lang="ru-RU" b="1" dirty="0" err="1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ИТиС</a:t>
            </a:r>
            <a:endParaRPr lang="ru-RU" sz="1400" b="1" dirty="0" smtClean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1" u="sng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Забаштанский</a:t>
            </a:r>
            <a:r>
              <a:rPr lang="ru-RU" b="1" i="1" u="sng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i="1" u="sng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А.К.</a:t>
            </a:r>
            <a:r>
              <a:rPr lang="ru-RU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ru-RU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3601871" y="4752093"/>
            <a:ext cx="160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Севастополь, 2026 г.</a:t>
            </a:r>
            <a:br>
              <a:rPr lang="ru-RU" sz="1200" b="1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2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58" name="Google Shape;58;p2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Цель и задачи</a:t>
                </a:r>
                <a:endParaRPr sz="1600" dirty="0"/>
              </a:p>
            </p:txBody>
          </p:sp>
        </p:grpSp>
        <p:pic>
          <p:nvPicPr>
            <p:cNvPr id="61" name="Google Shape;61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2"/>
          <p:cNvSpPr txBox="1"/>
          <p:nvPr/>
        </p:nvSpPr>
        <p:spPr>
          <a:xfrm>
            <a:off x="228600" y="742950"/>
            <a:ext cx="838200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Цель: разработать программу </a:t>
            </a: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языке </a:t>
            </a: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для хранения, обработки и анализа данных </a:t>
            </a: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 учёных с </a:t>
            </a: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использованием динамических структур </a:t>
            </a: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данных.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Разработать структуры данных для хранения информации об учёном и элемента списка.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ru-RU" sz="1800" dirty="0" smtClean="0">
                <a:solidFill>
                  <a:schemeClr val="dk1"/>
                </a:solidFill>
              </a:rPr>
              <a:t>Реализовать функции создания списка, добавления записи, удаления одного или всех элементов и редактирования данных</a:t>
            </a: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Обеспечить запись и чтение </a:t>
            </a: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текстовый и </a:t>
            </a: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бинарный </a:t>
            </a:r>
            <a:r>
              <a:rPr lang="ru-RU" sz="180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файлы.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sz="180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Реализовать постраничный и поэлементный вывод записей.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ctrTitle"/>
          </p:nvPr>
        </p:nvSpPr>
        <p:spPr>
          <a:xfrm>
            <a:off x="76200" y="698132"/>
            <a:ext cx="4343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Двунаправленный список (двусвязный)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>
            <a:spLocks noGrp="1"/>
          </p:cNvSpPr>
          <p:nvPr>
            <p:ph type="subTitle" idx="1"/>
          </p:nvPr>
        </p:nvSpPr>
        <p:spPr>
          <a:xfrm>
            <a:off x="76200" y="1463227"/>
            <a:ext cx="4648200" cy="3470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>
                <a:latin typeface="Arial"/>
                <a:ea typeface="Arial"/>
                <a:cs typeface="Arial"/>
                <a:sym typeface="Arial"/>
              </a:rPr>
              <a:t>Динамическое изменение размера.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>
              <a:latin typeface="Arial"/>
              <a:ea typeface="Arial"/>
              <a:cs typeface="Arial"/>
              <a:sym typeface="Arial"/>
            </a:endParaRPr>
          </a:p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>
                <a:latin typeface="Arial"/>
                <a:ea typeface="Arial"/>
                <a:cs typeface="Arial"/>
                <a:sym typeface="Arial"/>
              </a:rPr>
              <a:t>Вставка/удаление за O(1) (при известной позиции).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>
              <a:latin typeface="Arial"/>
              <a:ea typeface="Arial"/>
              <a:cs typeface="Arial"/>
              <a:sym typeface="Arial"/>
            </a:endParaRPr>
          </a:p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>
                <a:latin typeface="Arial"/>
                <a:ea typeface="Arial"/>
                <a:cs typeface="Arial"/>
                <a:sym typeface="Arial"/>
              </a:rPr>
              <a:t>Просмотр в обоих направлениях (удобно для скроллинга).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>
              <a:latin typeface="Arial"/>
              <a:ea typeface="Arial"/>
              <a:cs typeface="Arial"/>
              <a:sym typeface="Arial"/>
            </a:endParaRPr>
          </a:p>
          <a:p>
            <a:pPr marL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 b="0" i="0">
                <a:latin typeface="Arial"/>
                <a:ea typeface="Arial"/>
                <a:cs typeface="Arial"/>
                <a:sym typeface="Arial"/>
              </a:rPr>
              <a:t>Не требует переиндексации.</a:t>
            </a:r>
            <a:endParaRPr/>
          </a:p>
        </p:txBody>
      </p:sp>
      <p:grpSp>
        <p:nvGrpSpPr>
          <p:cNvPr id="71" name="Google Shape;71;p3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72" name="Google Shape;72;p3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rgbClr val="F9FAFB"/>
                    </a:solidFill>
                    <a:sym typeface="Arial"/>
                  </a:rPr>
                  <a:t>Выбор структуры данных</a:t>
                </a:r>
                <a:endParaRPr sz="1600" dirty="0"/>
              </a:p>
            </p:txBody>
          </p:sp>
        </p:grpSp>
        <p:pic>
          <p:nvPicPr>
            <p:cNvPr id="75" name="Google Shape;75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55" y="1005908"/>
            <a:ext cx="4502389" cy="35383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4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83" name="Google Shape;83;p4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rgbClr val="F9FAFB"/>
                    </a:solidFill>
                    <a:sym typeface="Arial"/>
                  </a:rPr>
                  <a:t>Модульная структура</a:t>
                </a:r>
                <a:endParaRPr sz="1600" dirty="0"/>
              </a:p>
            </p:txBody>
          </p:sp>
        </p:grpSp>
        <p:pic>
          <p:nvPicPr>
            <p:cNvPr id="86" name="Google Shape;86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193964" y="956593"/>
            <a:ext cx="3840795" cy="1815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175" rIns="0" bIns="76175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ru-RU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цикл меню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ru-RU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ru-RU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ist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просмотр</a:t>
            </a:r>
            <a:br>
              <a:rPr lang="ru-RU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/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addLast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добавление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ru-RU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удаление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editElement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корректировка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sortable – </a:t>
            </a:r>
            <a:r>
              <a:rPr lang="ru-RU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сортировка таблицы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92" y="761396"/>
            <a:ext cx="4681575" cy="4022057"/>
          </a:xfrm>
          <a:prstGeom prst="rect">
            <a:avLst/>
          </a:prstGeom>
        </p:spPr>
      </p:pic>
      <p:sp>
        <p:nvSpPr>
          <p:cNvPr id="12" name="Google Shape;87;p4"/>
          <p:cNvSpPr txBox="1">
            <a:spLocks/>
          </p:cNvSpPr>
          <p:nvPr/>
        </p:nvSpPr>
        <p:spPr>
          <a:xfrm>
            <a:off x="193963" y="2644326"/>
            <a:ext cx="3840795" cy="153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175" rIns="0" bIns="761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00" b="1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dirty="0" err="1">
                <a:solidFill>
                  <a:schemeClr val="dk1"/>
                </a:solidFill>
                <a:latin typeface="Arial"/>
                <a:ea typeface="Arial"/>
                <a:cs typeface="Arial"/>
              </a:rPr>
              <a:t>findScientist</a:t>
            </a:r>
            <a:r>
              <a:rPr lang="en-US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 – </a:t>
            </a:r>
            <a:r>
              <a:rPr lang="ru-RU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поиск</a:t>
            </a:r>
          </a:p>
          <a:p>
            <a:pPr marL="285750" indent="-285750"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dirty="0" err="1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exportToTxt</a:t>
            </a:r>
            <a:r>
              <a:rPr lang="en-US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/ </a:t>
            </a:r>
            <a:r>
              <a:rPr lang="en-US" sz="1800" b="0" dirty="0" err="1">
                <a:solidFill>
                  <a:schemeClr val="dk1"/>
                </a:solidFill>
                <a:latin typeface="Arial"/>
                <a:ea typeface="Arial"/>
                <a:cs typeface="Arial"/>
              </a:rPr>
              <a:t>exportToBin</a:t>
            </a:r>
            <a:r>
              <a:rPr lang="en-US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 – </a:t>
            </a:r>
            <a:r>
              <a:rPr lang="ru-RU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запись в </a:t>
            </a:r>
            <a:r>
              <a:rPr lang="ru-RU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файл</a:t>
            </a:r>
          </a:p>
          <a:p>
            <a:pPr marL="285750" indent="-285750"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dirty="0" err="1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importFromTxt</a:t>
            </a:r>
            <a:r>
              <a:rPr lang="en-US" sz="1800" b="0" dirty="0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/ </a:t>
            </a:r>
            <a:r>
              <a:rPr lang="en-US" sz="1800" b="0" dirty="0" err="1">
                <a:solidFill>
                  <a:schemeClr val="dk1"/>
                </a:solidFill>
                <a:latin typeface="Arial"/>
                <a:ea typeface="Arial"/>
                <a:cs typeface="Arial"/>
              </a:rPr>
              <a:t>importFromBin</a:t>
            </a:r>
            <a:r>
              <a:rPr lang="en-US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 – </a:t>
            </a:r>
            <a:r>
              <a:rPr lang="ru-RU" sz="1800" b="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чтение из файла</a:t>
            </a:r>
            <a:endParaRPr lang="ru-RU" sz="18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grpSp>
        <p:nvGrpSpPr>
          <p:cNvPr id="94" name="Google Shape;94;p5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95" name="Google Shape;95;p5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96" name="Google Shape;96;p5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rgbClr val="F9FAFB"/>
                    </a:solidFill>
                    <a:sym typeface="Arial"/>
                  </a:rPr>
                  <a:t>Алгоритмы ключевых функций</a:t>
                </a:r>
                <a:endParaRPr sz="1600" dirty="0"/>
              </a:p>
            </p:txBody>
          </p:sp>
        </p:grpSp>
        <p:pic>
          <p:nvPicPr>
            <p:cNvPr id="98" name="Google Shape;98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5"/>
          <p:cNvSpPr txBox="1"/>
          <p:nvPr/>
        </p:nvSpPr>
        <p:spPr>
          <a:xfrm>
            <a:off x="3429000" y="582647"/>
            <a:ext cx="4267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Добавление в 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список(</a:t>
            </a:r>
            <a:r>
              <a:rPr lang="en-US" sz="1800" b="1" dirty="0" err="1" smtClean="0">
                <a:solidFill>
                  <a:schemeClr val="dk1"/>
                </a:solidFill>
              </a:rPr>
              <a:t>addLast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Выделить память под новый узел.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Скопировать данные.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Если список пуст – новый узел становится головой.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Иначе найти последний элемент и привязать новый узел.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152400" y="2952443"/>
            <a:ext cx="47244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Запись в текстовый файл (</a:t>
            </a:r>
            <a:r>
              <a:rPr lang="en-US" sz="1800" b="1" dirty="0" err="1" smtClean="0">
                <a:solidFill>
                  <a:schemeClr val="dk1"/>
                </a:solidFill>
              </a:rPr>
              <a:t>exportToTxt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dirty="0"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dirty="0" smtClean="0">
                <a:solidFill>
                  <a:schemeClr val="dk1"/>
                </a:solidFill>
              </a:rPr>
              <a:t>Считать название файла с клавиатуры</a:t>
            </a: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Проверить на расширение </a:t>
            </a:r>
            <a:r>
              <a:rPr lang="en-US" sz="1800" b="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dirty="0" smtClean="0">
                <a:solidFill>
                  <a:schemeClr val="dk1"/>
                </a:solidFill>
              </a:rPr>
              <a:t> При ошибке создания файла вывести соответствующее сообщение</a:t>
            </a: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0" i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Иначе поочерёдно записывать все элементы</a:t>
            </a:r>
            <a:endParaRPr sz="1800" b="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29719"/>
            <a:ext cx="3429000" cy="22612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605742"/>
            <a:ext cx="4036290" cy="25377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6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109" name="Google Shape;109;p6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10" name="Google Shape;110;p6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rgbClr val="F9FAFB"/>
                    </a:solidFill>
                    <a:sym typeface="Arial"/>
                  </a:rPr>
                  <a:t>Экранные формы</a:t>
                </a:r>
                <a:endParaRPr sz="1600" dirty="0"/>
              </a:p>
            </p:txBody>
          </p:sp>
        </p:grpSp>
        <p:pic>
          <p:nvPicPr>
            <p:cNvPr id="112" name="Google Shape;112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6"/>
          <p:cNvSpPr txBox="1"/>
          <p:nvPr/>
        </p:nvSpPr>
        <p:spPr>
          <a:xfrm>
            <a:off x="4419600" y="730722"/>
            <a:ext cx="4038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Управление главным меню осуществляется путём нажатия 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клавиши-стрелок (вверх и вниз), </a:t>
            </a:r>
            <a:r>
              <a:rPr lang="ru-RU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выбора пункта и 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 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выхода из программы/подменю.</a:t>
            </a:r>
            <a:endParaRPr dirty="0"/>
          </a:p>
        </p:txBody>
      </p:sp>
      <p:sp>
        <p:nvSpPr>
          <p:cNvPr id="116" name="Google Shape;116;p6"/>
          <p:cNvSpPr txBox="1"/>
          <p:nvPr/>
        </p:nvSpPr>
        <p:spPr>
          <a:xfrm>
            <a:off x="4419600" y="2572402"/>
            <a:ext cx="38195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Поддерживается постраничный просмотр таблицы с помощью </a:t>
            </a:r>
            <a:r>
              <a:rPr lang="ru-RU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клавиш (</a:t>
            </a: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скроллинг).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45" y="818620"/>
            <a:ext cx="4158264" cy="13830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40" y="2681988"/>
            <a:ext cx="4219873" cy="1876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7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123" name="Google Shape;123;p7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24" name="Google Shape;124;p7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 smtClean="0">
                    <a:solidFill>
                      <a:srgbClr val="F9FAFB"/>
                    </a:solidFill>
                    <a:sym typeface="Arial"/>
                  </a:rPr>
                  <a:t>Тестирование</a:t>
                </a:r>
                <a:r>
                  <a:rPr lang="en-US" sz="1600" b="1" dirty="0" smtClean="0">
                    <a:solidFill>
                      <a:srgbClr val="F9FAFB"/>
                    </a:solidFill>
                    <a:sym typeface="Arial"/>
                  </a:rPr>
                  <a:t> </a:t>
                </a:r>
                <a:r>
                  <a:rPr lang="ru-RU" sz="1600" b="1" dirty="0" smtClean="0">
                    <a:solidFill>
                      <a:srgbClr val="F9FAFB"/>
                    </a:solidFill>
                    <a:sym typeface="Arial"/>
                  </a:rPr>
                  <a:t>и отладка</a:t>
                </a:r>
                <a:endParaRPr sz="1600" dirty="0"/>
              </a:p>
            </p:txBody>
          </p:sp>
        </p:grpSp>
        <p:pic>
          <p:nvPicPr>
            <p:cNvPr id="126" name="Google Shape;126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7"/>
          <p:cNvSpPr txBox="1"/>
          <p:nvPr/>
        </p:nvSpPr>
        <p:spPr>
          <a:xfrm>
            <a:off x="152400" y="666750"/>
            <a:ext cx="4191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пустом списке: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06908" y="1585767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Удаление записи: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3429000" y="595793"/>
            <a:ext cx="3245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Просмотр записей: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4495801" y="1576978"/>
            <a:ext cx="41069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Корректировка записи: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78475" y="2666389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Сортировка записи: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552666" y="2677629"/>
            <a:ext cx="3171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записи: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52400" y="3798663"/>
            <a:ext cx="37232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Сохранение таблицы: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495801" y="3778280"/>
            <a:ext cx="3152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Обработка таблицы: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237" y="904288"/>
            <a:ext cx="2448267" cy="73352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76" y="1927155"/>
            <a:ext cx="2257740" cy="342948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477" y="1886369"/>
            <a:ext cx="2257740" cy="34294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48" y="2976551"/>
            <a:ext cx="3658111" cy="371527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222" y="2985181"/>
            <a:ext cx="2257740" cy="342948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81" y="4111020"/>
            <a:ext cx="2257740" cy="342948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477" y="4111020"/>
            <a:ext cx="2257740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8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148" name="Google Shape;148;p8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49" name="Google Shape;149;p8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3200" b="1" dirty="0" smtClean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Тестирование(2</a:t>
                </a:r>
                <a:r>
                  <a:rPr lang="ru-RU" sz="3200" b="1" dirty="0">
                    <a:solidFill>
                      <a:srgbClr val="F9FAFB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 sz="3200" b="1" dirty="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8"/>
          <p:cNvSpPr txBox="1"/>
          <p:nvPr/>
        </p:nvSpPr>
        <p:spPr>
          <a:xfrm>
            <a:off x="152400" y="589291"/>
            <a:ext cx="42364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Ввод нечислового значения балла ЕГЭ: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233149" y="1657350"/>
            <a:ext cx="3886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Чтение из несуществующего файла: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055927" y="684039"/>
            <a:ext cx="36991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Удаление несуществующей записи: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0236" y="3096852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Сортировка по возрастанию: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49" y="899195"/>
            <a:ext cx="3677163" cy="76210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49" y="1933719"/>
            <a:ext cx="4196687" cy="89600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2730" y="1046425"/>
            <a:ext cx="3813702" cy="750487"/>
          </a:xfrm>
          <a:prstGeom prst="rect">
            <a:avLst/>
          </a:prstGeom>
        </p:spPr>
      </p:pic>
      <p:sp>
        <p:nvSpPr>
          <p:cNvPr id="19" name="Google Shape;125;p7"/>
          <p:cNvSpPr/>
          <p:nvPr/>
        </p:nvSpPr>
        <p:spPr>
          <a:xfrm>
            <a:off x="0" y="-3236"/>
            <a:ext cx="6477000" cy="574703"/>
          </a:xfrm>
          <a:custGeom>
            <a:avLst/>
            <a:gdLst/>
            <a:ahLst/>
            <a:cxnLst/>
            <a:rect l="l" t="t" r="r" b="b"/>
            <a:pathLst>
              <a:path w="9967865" h="690048" extrusionOk="0">
                <a:moveTo>
                  <a:pt x="0" y="0"/>
                </a:moveTo>
                <a:lnTo>
                  <a:pt x="9967865" y="0"/>
                </a:lnTo>
                <a:lnTo>
                  <a:pt x="8760984" y="690048"/>
                </a:lnTo>
                <a:lnTo>
                  <a:pt x="4224" y="688791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 smtClean="0">
                <a:solidFill>
                  <a:srgbClr val="F9FAFB"/>
                </a:solidFill>
                <a:sym typeface="Arial"/>
              </a:rPr>
              <a:t>Тестирование</a:t>
            </a:r>
            <a:r>
              <a:rPr lang="en-US" sz="1600" b="1" dirty="0" smtClean="0">
                <a:solidFill>
                  <a:srgbClr val="F9FAFB"/>
                </a:solidFill>
                <a:sym typeface="Arial"/>
              </a:rPr>
              <a:t> </a:t>
            </a:r>
            <a:r>
              <a:rPr lang="ru-RU" sz="1600" b="1" dirty="0" smtClean="0">
                <a:solidFill>
                  <a:srgbClr val="F9FAFB"/>
                </a:solidFill>
                <a:sym typeface="Arial"/>
              </a:rPr>
              <a:t>и отладка</a:t>
            </a:r>
            <a:endParaRPr sz="1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0601" y="3096852"/>
            <a:ext cx="4573199" cy="2041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9"/>
          <p:cNvGrpSpPr/>
          <p:nvPr/>
        </p:nvGrpSpPr>
        <p:grpSpPr>
          <a:xfrm>
            <a:off x="0" y="-6496"/>
            <a:ext cx="9144000" cy="574705"/>
            <a:chOff x="0" y="-5563"/>
            <a:chExt cx="9144000" cy="574705"/>
          </a:xfrm>
        </p:grpSpPr>
        <p:grpSp>
          <p:nvGrpSpPr>
            <p:cNvPr id="166" name="Google Shape;166;p9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67" name="Google Shape;167;p9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/>
                <a:ahLst/>
                <a:cxnLst/>
                <a:rect l="l" t="t" r="r" b="b"/>
                <a:pathLst>
                  <a:path w="9967865" h="690048" extrusionOk="0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 dirty="0">
                    <a:solidFill>
                      <a:srgbClr val="F9FAFB"/>
                    </a:solidFill>
                    <a:sym typeface="Arial"/>
                  </a:rPr>
                  <a:t>Заключение</a:t>
                </a:r>
                <a:endParaRPr sz="1600" dirty="0"/>
              </a:p>
            </p:txBody>
          </p:sp>
        </p:grpSp>
        <p:pic>
          <p:nvPicPr>
            <p:cNvPr id="169" name="Google Shape;169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3800" y="91298"/>
              <a:ext cx="1211316" cy="380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9"/>
          <p:cNvSpPr txBox="1"/>
          <p:nvPr/>
        </p:nvSpPr>
        <p:spPr>
          <a:xfrm>
            <a:off x="36924" y="930155"/>
            <a:ext cx="907235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000" b="0" i="0" dirty="0">
                <a:solidFill>
                  <a:schemeClr val="dk1"/>
                </a:solidFill>
                <a:sym typeface="Arial"/>
              </a:rPr>
              <a:t> Разработана программа на </a:t>
            </a:r>
            <a:r>
              <a:rPr lang="ru-RU" sz="2000" dirty="0" smtClean="0">
                <a:solidFill>
                  <a:schemeClr val="dk1"/>
                </a:solidFill>
              </a:rPr>
              <a:t>языке </a:t>
            </a:r>
            <a:r>
              <a:rPr lang="ru-RU" sz="2000" b="0" i="0" dirty="0" smtClean="0">
                <a:solidFill>
                  <a:schemeClr val="dk1"/>
                </a:solidFill>
                <a:sym typeface="Arial"/>
              </a:rPr>
              <a:t>C</a:t>
            </a:r>
            <a:r>
              <a:rPr lang="ru-RU" sz="2000" b="0" i="0" dirty="0">
                <a:solidFill>
                  <a:schemeClr val="dk1"/>
                </a:solidFill>
                <a:sym typeface="Arial"/>
              </a:rPr>
              <a:t>, полностью соответствующая ТЗ.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dirty="0">
              <a:solidFill>
                <a:schemeClr val="dk1"/>
              </a:solidFill>
              <a:sym typeface="Arial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000" b="0" i="0" dirty="0">
                <a:solidFill>
                  <a:schemeClr val="dk1"/>
                </a:solidFill>
                <a:sym typeface="Arial"/>
              </a:rPr>
              <a:t> Реализован двусвязный список, все операции CRUD, сортировка, </a:t>
            </a:r>
            <a:r>
              <a:rPr lang="ru-RU" sz="2000" b="0" i="0" dirty="0" smtClean="0">
                <a:solidFill>
                  <a:schemeClr val="dk1"/>
                </a:solidFill>
                <a:sym typeface="Arial"/>
              </a:rPr>
              <a:t>поиск и обработка согласно варианту.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dirty="0">
              <a:solidFill>
                <a:schemeClr val="dk1"/>
              </a:solidFill>
              <a:sym typeface="Arial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000" b="0" i="0" dirty="0">
                <a:solidFill>
                  <a:schemeClr val="dk1"/>
                </a:solidFill>
                <a:sym typeface="Arial"/>
              </a:rPr>
              <a:t> Обеспечена работа с текстовыми и бинарными файлами.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dirty="0">
              <a:solidFill>
                <a:schemeClr val="dk1"/>
              </a:solidFill>
              <a:sym typeface="Arial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000" b="0" i="0" dirty="0">
                <a:solidFill>
                  <a:schemeClr val="dk1"/>
                </a:solidFill>
                <a:sym typeface="Arial"/>
              </a:rPr>
              <a:t> </a:t>
            </a:r>
            <a:r>
              <a:rPr lang="ru-RU" sz="2000" dirty="0" smtClean="0">
                <a:solidFill>
                  <a:schemeClr val="dk1"/>
                </a:solidFill>
              </a:rPr>
              <a:t>Успешно реализован алгоритм подтверждения критических действий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dirty="0">
              <a:solidFill>
                <a:schemeClr val="dk1"/>
              </a:solidFill>
              <a:sym typeface="Arial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000" b="0" i="0" dirty="0">
                <a:solidFill>
                  <a:schemeClr val="dk1"/>
                </a:solidFill>
                <a:sym typeface="Arial"/>
              </a:rPr>
              <a:t> Проведено тестирование, ошибки корректно обрабатываются.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0"/>
          <p:cNvGrpSpPr/>
          <p:nvPr/>
        </p:nvGrpSpPr>
        <p:grpSpPr>
          <a:xfrm>
            <a:off x="0" y="-5563"/>
            <a:ext cx="9144000" cy="5149063"/>
            <a:chOff x="-2931" y="-6103"/>
            <a:chExt cx="12194930" cy="867688"/>
          </a:xfrm>
        </p:grpSpPr>
        <p:sp>
          <p:nvSpPr>
            <p:cNvPr id="176" name="Google Shape;176;p10"/>
            <p:cNvSpPr/>
            <p:nvPr/>
          </p:nvSpPr>
          <p:spPr>
            <a:xfrm>
              <a:off x="0" y="-6103"/>
              <a:ext cx="12191999" cy="8676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-2931" y="-6103"/>
              <a:ext cx="8638075" cy="867685"/>
            </a:xfrm>
            <a:custGeom>
              <a:avLst/>
              <a:gdLst/>
              <a:ahLst/>
              <a:cxnLst/>
              <a:rect l="l" t="t" r="r" b="b"/>
              <a:pathLst>
                <a:path w="9967865" h="690048" extrusionOk="0">
                  <a:moveTo>
                    <a:pt x="0" y="0"/>
                  </a:moveTo>
                  <a:lnTo>
                    <a:pt x="9967865" y="0"/>
                  </a:lnTo>
                  <a:lnTo>
                    <a:pt x="8760984" y="690048"/>
                  </a:lnTo>
                  <a:lnTo>
                    <a:pt x="4224" y="688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0"/>
          <p:cNvSpPr txBox="1"/>
          <p:nvPr/>
        </p:nvSpPr>
        <p:spPr>
          <a:xfrm>
            <a:off x="609600" y="1119554"/>
            <a:ext cx="7543800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100" rIns="0" bIns="0" anchor="ctr" anchorCtr="0">
            <a:spAutoFit/>
          </a:bodyPr>
          <a:lstStyle/>
          <a:p>
            <a:pPr marL="0" marR="508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chemeClr val="lt1"/>
                </a:solidFill>
                <a:latin typeface="Arial Black" panose="020B0A04020102020204" pitchFamily="34" charset="0"/>
                <a:ea typeface="Times New Roman"/>
                <a:cs typeface="Times New Roman"/>
                <a:sym typeface="Times New Roman"/>
              </a:rPr>
              <a:t>СПАСИБО</a:t>
            </a:r>
            <a:br>
              <a:rPr lang="ru-RU" sz="4500" b="1" dirty="0">
                <a:solidFill>
                  <a:schemeClr val="lt1"/>
                </a:solidFill>
                <a:latin typeface="Arial Black" panose="020B0A04020102020204" pitchFamily="34" charset="0"/>
                <a:ea typeface="Times New Roman"/>
                <a:cs typeface="Times New Roman"/>
                <a:sym typeface="Times New Roman"/>
              </a:rPr>
            </a:br>
            <a:r>
              <a:rPr lang="ru-RU" sz="4500" b="1" dirty="0">
                <a:solidFill>
                  <a:schemeClr val="lt1"/>
                </a:solidFill>
                <a:latin typeface="Arial Black" panose="020B0A04020102020204" pitchFamily="34" charset="0"/>
                <a:ea typeface="Times New Roman"/>
                <a:cs typeface="Times New Roman"/>
                <a:sym typeface="Times New Roman"/>
              </a:rPr>
              <a:t>ЗА ВНИМАНИЕ!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289</Words>
  <Application>Microsoft Office PowerPoint</Application>
  <PresentationFormat>Экран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Wingdings</vt:lpstr>
      <vt:lpstr>Times New Roman</vt:lpstr>
      <vt:lpstr>Calibri</vt:lpstr>
      <vt:lpstr>Century Gothic</vt:lpstr>
      <vt:lpstr>Arial Black</vt:lpstr>
      <vt:lpstr>Arial</vt:lpstr>
      <vt:lpstr>Office Theme</vt:lpstr>
      <vt:lpstr>Презентация PowerPoint</vt:lpstr>
      <vt:lpstr>Презентация PowerPoint</vt:lpstr>
      <vt:lpstr>Двунаправленный список (двусвязный)</vt:lpstr>
      <vt:lpstr>main – цикл меню viewList – просмотр addFirst / addLast – добавление deleteNode – удаление editElement – корректировка sortable – сортировка таблицы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Belik Georgij</dc:creator>
  <cp:lastModifiedBy>Komp</cp:lastModifiedBy>
  <cp:revision>10</cp:revision>
  <dcterms:created xsi:type="dcterms:W3CDTF">2021-03-12T05:54:09Z</dcterms:created>
  <dcterms:modified xsi:type="dcterms:W3CDTF">2026-06-19T22:02:03Z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